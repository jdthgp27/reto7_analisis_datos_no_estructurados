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Reto 7 — Análisis de Datos No Estructurados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77F00"/>
                </a:solidFill>
              </a:defRPr>
            </a:pPr>
            <a:r>
              <a:t>Análisis NLP de 100,000 tweets sobre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 lang="es-ES" dirty="0"/>
              <a:t>Judit Giravent</a:t>
            </a:r>
            <a:r>
              <a:rPr dirty="0"/>
              <a:t>  ·  </a:t>
            </a:r>
            <a:r>
              <a:rPr dirty="0" err="1"/>
              <a:t>Curso</a:t>
            </a:r>
            <a:r>
              <a:rPr dirty="0"/>
              <a:t> 6 — Business Intelligence y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rPr lang="es-ES" dirty="0"/>
              <a:t>Septiembre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Contenido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1.  Contexto y objetivos del reto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2.  Fuentes de datos utilizadas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3.  Metodología: pipeline técnico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4.  Tratamiento y preparación de los datos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5.  Análisis exploratorio y visualización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6.  Análisis de sentimiento (NLP)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7.  Extracción de entidades (NER) y tópicos (LDA)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8.  Análisis de redes de co-ocurrencia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9.  Dificultades encontradas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10. Resultados obtenidos e insights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11. Recomendaciones estratégicas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12. 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Contexto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ChatGPT y GPT-4 marcaron un punto de inflexión en la percepción pública de la IA (marzo 2023).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Twitter/X se convirtió en el principal foro de discusión masiva.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Necesidad de entender: ¿qué se dice? ¿con qué sentimiento? ¿quiénes lideran el discurso?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Extraer y preparar un corpus de tweets sobre IA.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Cuantificar el sentimiento público.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Identificar entidades mencionadas.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Descubrir temas latentes con LDA.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Analizar la red de co-ocurrencia de entidades.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Traducir los hallazgos en recomendaciones.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 / 17</a:t>
            </a:r>
          </a:p>
        </p:txBody>
      </p:sp>
      <p:pic>
        <p:nvPicPr>
          <p:cNvPr id="8" name="ttsmaker-file-2026-9-20-23-25-22">
            <a:hlinkClick r:id="" action="ppaction://media"/>
            <a:extLst>
              <a:ext uri="{FF2B5EF4-FFF2-40B4-BE49-F238E27FC236}">
                <a16:creationId xmlns:a16="http://schemas.microsoft.com/office/drawing/2014/main" id="{00BBA4B9-9613-3880-DC68-2DFED0B250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7435" y="582871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Fuentes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Datasets utilizados (Kaggle)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 Twitter Jan Mar.csv — 500,036 tweets sobre ChatGPT (khalidryder777).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 sentiment/file.csv — 219,294 tweets etiquetados (charunisa).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 ai_tweet.csv — 5,002 tweets con ubicación geográfica.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Criterios de selección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✓ Volumen suficiente (≥ 10,000 tweets por fuente).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✓ Relevancia temática explícita sobre IA/ChatGPT.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✓ Metadata útil (engagement, fecha, ubicación).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✓ Acceso libre y licencia pública (CC-BY).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 / 17</a:t>
            </a:r>
          </a:p>
        </p:txBody>
      </p:sp>
      <p:pic>
        <p:nvPicPr>
          <p:cNvPr id="8" name="ttsmaker-file-2026-9-20-23-27-20">
            <a:hlinkClick r:id="" action="ppaction://media"/>
            <a:extLst>
              <a:ext uri="{FF2B5EF4-FFF2-40B4-BE49-F238E27FC236}">
                <a16:creationId xmlns:a16="http://schemas.microsoft.com/office/drawing/2014/main" id="{DB5722ED-C1CA-E820-F5F0-05C85129E9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81874" y="5741351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9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Metodología: pipeline técnico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55448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Extracción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Carga CSV</a:t>
            </a:r>
            <a:br/>
            <a:r>
              <a:t>Validación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1168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48840" y="2286000"/>
            <a:ext cx="1554480" cy="2286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Preparación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Limpieza</a:t>
            </a:r>
            <a:br/>
            <a:r>
              <a:t>Tokenización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155448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Análisis</a:t>
            </a:r>
            <a:br/>
            <a:r>
              <a:t>exploratorio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9496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32120" y="2286000"/>
            <a:ext cx="1554480" cy="2286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04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NLP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VADER</a:t>
            </a:r>
            <a:br/>
            <a:r>
              <a:t>TextBlob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0" y="2286000"/>
            <a:ext cx="155448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05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NER + LDA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SpaCy</a:t>
            </a:r>
            <a:br/>
            <a:r>
              <a:t>scikit-learn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7824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15400" y="2286000"/>
            <a:ext cx="1554480" cy="2286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06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Redes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NetworkX</a:t>
            </a:r>
            <a:br/>
            <a:r>
              <a:t>Louvain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469880" y="3291840"/>
            <a:ext cx="137160" cy="274320"/>
          </a:xfrm>
          <a:prstGeom prst="rightArrow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607040" y="2286000"/>
            <a:ext cx="155448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77F00"/>
                </a:solidFill>
              </a:defRPr>
            </a:pPr>
            <a:r>
              <a:t>07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Informe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Insights</a:t>
            </a:r>
            <a:br/>
            <a:r>
              <a:t>Recomendaciones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 / 17</a:t>
            </a:r>
          </a:p>
        </p:txBody>
      </p:sp>
      <p:pic>
        <p:nvPicPr>
          <p:cNvPr id="17" name="ttsmaker-file-2026-9-20-23-28-47">
            <a:hlinkClick r:id="" action="ppaction://media"/>
            <a:extLst>
              <a:ext uri="{FF2B5EF4-FFF2-40B4-BE49-F238E27FC236}">
                <a16:creationId xmlns:a16="http://schemas.microsoft.com/office/drawing/2014/main" id="{CD411E46-3023-B085-6055-76E328B3B5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9854" y="568893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7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Tratamiento de los datos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Limpieza aplicada al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Normalización: conversión a minúsculas.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Eliminación de URLs (https://t.co/...).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Eliminación de menciones (@usuario).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Hashtags: se preserva el texto (#ChatGPT → chatgpt).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Eliminación de emojis (regex unicode).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Eliminación de números y símbolos especiales.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Normalización de espacios múltiples.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03520"/>
            <a:ext cx="10972800" cy="109728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400" i="1">
                <a:solidFill>
                  <a:srgbClr val="1F3A5F"/>
                </a:solidFill>
              </a:defRPr>
            </a:pPr>
            <a:r>
              <a:t>Objetivo: reducir el ruido y quedarnos solo con el contenido semántico relevante para el análisis de sentimiento y NLP.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 / 17</a:t>
            </a:r>
          </a:p>
        </p:txBody>
      </p:sp>
      <p:pic>
        <p:nvPicPr>
          <p:cNvPr id="7" name="ttsmaker-file-2026-9-20-23-30-6">
            <a:hlinkClick r:id="" action="ppaction://media"/>
            <a:extLst>
              <a:ext uri="{FF2B5EF4-FFF2-40B4-BE49-F238E27FC236}">
                <a16:creationId xmlns:a16="http://schemas.microsoft.com/office/drawing/2014/main" id="{90BB2878-CA5F-78C9-BB53-D213CF259B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06864" y="591343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Tratamiento de los datos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Tokenización y lematización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Stopwords combinadas: inglés (198) + español (313) + custom (52) = 553.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Excluidas de stopwords: 'chatgpt', 'openai', 'gpt' (términos clave del dominio).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Tokenización simple por split + filtrado de stopwords.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Lematización con SpaCy bilingüe (en_core_web_sm + es_core_news_sm).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Detección de idioma por heurística (caracteres latinos + palabras funcionales).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Estadísticas del corpus procesado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 100,000 tweets procesados  ·  63,418 usuarios únicos.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 Idioma: 99.77% inglés  ·  0.23% español.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 Longitud media del texto limpio: 134 caracteres.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 / 17</a:t>
            </a:r>
          </a:p>
        </p:txBody>
      </p:sp>
      <p:pic>
        <p:nvPicPr>
          <p:cNvPr id="10" name="ttsmaker-file-2026-9-20-23-34-4">
            <a:hlinkClick r:id="" action="ppaction://media"/>
            <a:extLst>
              <a:ext uri="{FF2B5EF4-FFF2-40B4-BE49-F238E27FC236}">
                <a16:creationId xmlns:a16="http://schemas.microsoft.com/office/drawing/2014/main" id="{F7E8A633-80CF-0EF9-0BE4-A79F12B760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82756" y="5647791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9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Análisis exploratorio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Términos dominantes: chatgpt, gpt, google, microsoft, ai, nft, crypto.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 / 17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E312C5-3B9B-DDBF-FE20-3D229DD77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49" y="1331735"/>
            <a:ext cx="8615596" cy="4560289"/>
          </a:xfrm>
          <a:prstGeom prst="rect">
            <a:avLst/>
          </a:prstGeom>
        </p:spPr>
      </p:pic>
      <p:pic>
        <p:nvPicPr>
          <p:cNvPr id="7" name="ttsmaker-file-2026-9-20-23-38-28">
            <a:hlinkClick r:id="" action="ppaction://media"/>
            <a:extLst>
              <a:ext uri="{FF2B5EF4-FFF2-40B4-BE49-F238E27FC236}">
                <a16:creationId xmlns:a16="http://schemas.microsoft.com/office/drawing/2014/main" id="{599E3EE0-AB4B-46CA-5990-F5C9C9E3B9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89038" y="592858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Análisis de sentimiento (NLP)</a:t>
            </a:r>
          </a:p>
        </p:txBody>
      </p:sp>
      <p:pic>
        <p:nvPicPr>
          <p:cNvPr id="3" name="Picture 2" descr="04_distribucion_sentimi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6858000" cy="1678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Resultados VADER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🟢 Positivo: 53.26% (53,260 tweets)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⚪ Neutral: 30.68% (30,678 tweets)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🔴 Negativo: 16.06% (16,062 tweets)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Compound medio: +0.2174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Desviación estándar: 0.4081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Engagement: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  · Positivos: 9.49 likes  ·  1.96 RT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  · Negativos: 7.23 likes  ·  1.19 RT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   · Neutrales: 5.82 likes  ·  0.90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 / 17</a:t>
            </a:r>
          </a:p>
        </p:txBody>
      </p:sp>
      <p:pic>
        <p:nvPicPr>
          <p:cNvPr id="7" name="ttsmaker-file-2026-9-20-23-40-41">
            <a:hlinkClick r:id="" action="ppaction://media"/>
            <a:extLst>
              <a:ext uri="{FF2B5EF4-FFF2-40B4-BE49-F238E27FC236}">
                <a16:creationId xmlns:a16="http://schemas.microsoft.com/office/drawing/2014/main" id="{23BB6D3B-613E-240A-EB6E-2DDB9A3B03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5171" y="574717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Extracción de entidades (NER) y tópicos (LDA)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Top entidades detectadas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🏢 gpt (ORG): 33,279 menciones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🏢 google (ORG): 1,389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🏢 microsoft (ORG): 1,079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👤 sam altman (PERSON): 381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📦 google s bard (PRODUCT): 93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Total: 64,268 entidades (10,718 únicas).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 Tipos: ORG, PERSON, GPE, PRODUCT, EVENT, NORP, MONEY, WORK_OF_ART.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Temas LDA detectados (8)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0: IA generativa y escritura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1: Herramientas y chatbots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2: Cripto + IA (nicho)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3: Futuro y capacidades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4: Uso general y preguntas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5: Microsoft/Bing + marketing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6: Aprendizaje y juegos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Tema 7: Google Bard y educación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 / 17</a:t>
            </a:r>
          </a:p>
        </p:txBody>
      </p:sp>
      <p:pic>
        <p:nvPicPr>
          <p:cNvPr id="8" name="ttsmaker-file-2026-9-20-23-43-51">
            <a:hlinkClick r:id="" action="ppaction://media"/>
            <a:extLst>
              <a:ext uri="{FF2B5EF4-FFF2-40B4-BE49-F238E27FC236}">
                <a16:creationId xmlns:a16="http://schemas.microsoft.com/office/drawing/2014/main" id="{1094790F-1B3F-F660-DB6F-E15C301BDD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56423" y="5782622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4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Análisis de redes de co-ocurrencia</a:t>
            </a:r>
          </a:p>
        </p:txBody>
      </p:sp>
      <p:pic>
        <p:nvPicPr>
          <p:cNvPr id="3" name="Picture 2" descr="06_red_entida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6858000" cy="53254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</a:defRPr>
            </a:pPr>
            <a:r>
              <a:t>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Nodos: 77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Aristas: 254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Comunidades: 4 (Louvain)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Top hubs: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1. gpt (grado 2,344)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2. google (grado 521)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3. microsoft (grado 447)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4. sam altman (grado 206)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Comunidades: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· Núcleo OpenAI/ChatGPT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· Eje Google-Microsoft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· Política y personalidades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•    · Medios y academia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 / 17</a:t>
            </a:r>
          </a:p>
        </p:txBody>
      </p:sp>
      <p:pic>
        <p:nvPicPr>
          <p:cNvPr id="7" name="ttsmaker-file-2026-9-20-23-46-12">
            <a:hlinkClick r:id="" action="ppaction://media"/>
            <a:extLst>
              <a:ext uri="{FF2B5EF4-FFF2-40B4-BE49-F238E27FC236}">
                <a16:creationId xmlns:a16="http://schemas.microsoft.com/office/drawing/2014/main" id="{E7C44CA7-86B4-A16E-D198-19855A7CBF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3150" y="582195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Dificultades encontradas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Retos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📉 Sesgo temporal severo: el muestreo df.head(100k) sobre CSV ordenado descendentemente limitó el análisis a solo 14 días (16-29 marzo 2023), no los 3 meses originales.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🔤 Lematización bilingüe imperfecta: SpaCy es_core_news_sm lematizó incorrectamente términos ingleses (writtir, peoplir, datar, freir).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🌐 Desequilibrio lingüístico extremo: 99.77% de los tweets en inglés, solo 0.23% en español → el pipeline bilingüe aportó poco valor real.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🔍 Ruido en NER: falsos positivos por contracciones inglesas (don, doesn) y posesivos (google s). Fragmentos mal extraídos (gpt gpt).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⏱️ Tiempos de procesamiento: procesar 100k tweets con SpaCy tardó ~8-10 minutos, condicionando la iteración rápida.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12 / 17</a:t>
            </a:r>
          </a:p>
        </p:txBody>
      </p:sp>
      <p:pic>
        <p:nvPicPr>
          <p:cNvPr id="6" name="ttsmaker-file-2026-9-20-23-48-20">
            <a:hlinkClick r:id="" action="ppaction://media"/>
            <a:extLst>
              <a:ext uri="{FF2B5EF4-FFF2-40B4-BE49-F238E27FC236}">
                <a16:creationId xmlns:a16="http://schemas.microsoft.com/office/drawing/2014/main" id="{FF54F6CA-174B-0F75-9668-8211F699F2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7986" y="5752999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Dificultades encontradas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Retos metodológicos y conceptuales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📐 Red de tamaño modesto: con MIN_FREQ=20 solo quedaron 77 nodos, lo que limita la interpretabilidad estructural de la red.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🔗 Co-ocurrencia ≠ interacción real: la red refleja proximidad temática, no influencia social (retweets, replies, menciones).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✅ Sin ground truth específico: no se validó VADER/TextBlob contra etiquetas del corpus IA, aunque sí contra benchmarks genéricos.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📊 Ruido temático: los tweets cripto/NFT se mezclaron con discurso IA, generando temas híbridos difíciles de separar.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🎨 Falta de análisis multimodal: imágenes, vídeos y memes (muy relevantes en IA) quedaron fuera del análisis.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 🕒 Presupuesto de tiempo: el análisis exhaustivo de las 3 fases (NLP + NER + Redes) requirió priorizar y dejar validaciones para futuras iteraciones.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13 / 17</a:t>
            </a:r>
          </a:p>
        </p:txBody>
      </p:sp>
      <p:pic>
        <p:nvPicPr>
          <p:cNvPr id="6" name="ttsmaker-file-2026-9-20-23-50-1">
            <a:hlinkClick r:id="" action="ppaction://media"/>
            <a:extLst>
              <a:ext uri="{FF2B5EF4-FFF2-40B4-BE49-F238E27FC236}">
                <a16:creationId xmlns:a16="http://schemas.microsoft.com/office/drawing/2014/main" id="{47A72689-F865-A330-1FF3-20D6DF8126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2491" y="557784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Resultados obtenidos e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53.26%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Tweets positivos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Sentimiento favorable dominante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16.06%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Tweets negativos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Foco en ética y sesgos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33,279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Menciones de gpt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Hub absoluto del discurso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Comunidades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OpenAI · Google · Política · Medios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8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Temas LDA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IA generativa, cripto, educación...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371600"/>
            <a:ext cx="1828800" cy="2103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77F00"/>
                </a:solidFill>
              </a:defRPr>
            </a:pPr>
            <a:r>
              <a:t>+0.217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Compound medio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Sentimiento global positivo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14 / 17</a:t>
            </a:r>
          </a:p>
        </p:txBody>
      </p:sp>
      <p:pic>
        <p:nvPicPr>
          <p:cNvPr id="10" name="ttsmaker-file-2026-9-20-23-53-43">
            <a:hlinkClick r:id="" action="ppaction://media"/>
            <a:extLst>
              <a:ext uri="{FF2B5EF4-FFF2-40B4-BE49-F238E27FC236}">
                <a16:creationId xmlns:a16="http://schemas.microsoft.com/office/drawing/2014/main" id="{7B304CAF-B22A-35DC-B286-9434287833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2931" y="558409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2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Recomendaciones estratégicas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Prioridades identificadas (🔥 críticas)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🔥 1. Aprovechar la ventana positiva antes del ciclo crítico (6-12 meses).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🔥 2. Co-ocurrir con ChatGPT para ganar visibilidad en el discurso IA.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🔥 3. Priorizar integraciones con ChatGPT API frente a modelos propios.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🔥 4. Atacar verticales específicas (legal, salud, educación) con baja competencia.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🔥 5. Elegir 1-2 comunidades de la red y dominarlas, no intentar cubrir todo.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⚡ 6. Evitar ruido cripto-IA si no es el core del negocio.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⚡ 7. Explorar el mercado hispanohablante (desatendido).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⚡ 8. Construir narrativa positiva pero no ingenua (70% beneficio / 20% desafíos / 10% visión).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⚡ 9. Prepararse para la regulación (AI Act europea).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⚡ 10. Industrializar el pipeline NLP para análisis continuo.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15 / 17</a:t>
            </a:r>
          </a:p>
        </p:txBody>
      </p:sp>
      <p:pic>
        <p:nvPicPr>
          <p:cNvPr id="6" name="ttsmaker-file-2026-9-20-23-55-36">
            <a:hlinkClick r:id="" action="ppaction://media"/>
            <a:extLst>
              <a:ext uri="{FF2B5EF4-FFF2-40B4-BE49-F238E27FC236}">
                <a16:creationId xmlns:a16="http://schemas.microsoft.com/office/drawing/2014/main" id="{514699EF-D7DE-EDEC-424B-93591BE429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0954" y="585118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Conclusiones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El sentimiento público hacia la IA en marzo 2023 fue claramente positivo.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ChatGPT/OpenAI domina el discurso de forma casi monopólica.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La competencia OpenAI vs Google es el segundo eje discursivo.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La comunidad cripto-IA es un nicho significativo pero minoritario.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La red se estructura en 4 comunidades con ChatGPT como hub central.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 El análisis bilingüe fue marginal (99.77% inglés).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</a:defRPr>
            </a:pPr>
            <a: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Corto plazo (1-3 meses):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Corregir sesgo temporal con muestreo estratificado.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Validar sentimiento contra ground truth.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Industrializar pipeline a scripts reproducibles.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Medio plazo (3-6 meses):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Ampliar corpus a 500k tweets completos.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Incorporar análisis de interacciones reales (retweets, replies).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Migrar sentimiento a BERT/RoBERTa.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Largo plazo (6-12 meses):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Análisis multimodal (imágenes, videos).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   · Dashboard de monitorización continua.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16 / 17</a:t>
            </a:r>
          </a:p>
        </p:txBody>
      </p:sp>
      <p:pic>
        <p:nvPicPr>
          <p:cNvPr id="8" name="ttsmaker-file-2026-9-20-23-57-9">
            <a:hlinkClick r:id="" action="ppaction://media"/>
            <a:extLst>
              <a:ext uri="{FF2B5EF4-FFF2-40B4-BE49-F238E27FC236}">
                <a16:creationId xmlns:a16="http://schemas.microsoft.com/office/drawing/2014/main" id="{9DA766EB-27DB-9363-9D60-9AE32A498E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33303" y="594360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Gracias por su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77F00"/>
                </a:solidFill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224" y="502920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rPr lang="es-ES" dirty="0"/>
              <a:t>Judit Giravent</a:t>
            </a:r>
            <a:r>
              <a:rPr dirty="0"/>
              <a:t>  ·  github.com/</a:t>
            </a:r>
            <a:r>
              <a:rPr lang="es-ES" dirty="0"/>
              <a:t>@jdthgp27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1690</Words>
  <Application>Microsoft Office PowerPoint</Application>
  <PresentationFormat>Panorámica</PresentationFormat>
  <Paragraphs>220</Paragraphs>
  <Slides>17</Slides>
  <Notes>0</Notes>
  <HiddenSlides>0</HiddenSlides>
  <MMClips>14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Judit Giravent Pineda</cp:lastModifiedBy>
  <cp:revision>6</cp:revision>
  <dcterms:created xsi:type="dcterms:W3CDTF">2013-01-27T09:14:16Z</dcterms:created>
  <dcterms:modified xsi:type="dcterms:W3CDTF">2026-09-20T21:57:39Z</dcterms:modified>
  <cp:category/>
</cp:coreProperties>
</file>